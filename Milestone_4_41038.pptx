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58"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28B30-A80A-E7EA-20C3-5CDFCEA8AF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0B97C0-3B37-3A40-D380-51C232375B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BA0F79-C748-705E-1067-404868D24B90}"/>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5" name="Footer Placeholder 4">
            <a:extLst>
              <a:ext uri="{FF2B5EF4-FFF2-40B4-BE49-F238E27FC236}">
                <a16:creationId xmlns:a16="http://schemas.microsoft.com/office/drawing/2014/main" id="{1505AA65-2FED-E10F-2DDD-716F4315D2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20636-381F-B5E2-5926-A12815BF56E1}"/>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1828637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B3B91-0C46-C2B0-7A08-E33558365A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D3219-74D6-ADB0-6280-2D2346B058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1A7AAC-454B-DC45-0931-355ACEE0C4AA}"/>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5" name="Footer Placeholder 4">
            <a:extLst>
              <a:ext uri="{FF2B5EF4-FFF2-40B4-BE49-F238E27FC236}">
                <a16:creationId xmlns:a16="http://schemas.microsoft.com/office/drawing/2014/main" id="{AB144996-97EF-C5BB-DD88-12AD37172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A4D3F1-CFCF-4AC1-B5AB-2E6FFF5057F3}"/>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3366770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3A738-C6A1-3AC2-8A32-57C51E713A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4BC69E-3E6C-E078-BD22-17CE7A5084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3C00DE-0665-9D2C-3CCB-9BD2FF2FF470}"/>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5" name="Footer Placeholder 4">
            <a:extLst>
              <a:ext uri="{FF2B5EF4-FFF2-40B4-BE49-F238E27FC236}">
                <a16:creationId xmlns:a16="http://schemas.microsoft.com/office/drawing/2014/main" id="{A6304C90-C674-0A9A-0E8A-8449D7D12D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705CE1-F135-BD2C-E07B-CAF919E1ED4D}"/>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239462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78AC-85BF-0663-FE87-833C5AF1EC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5888C-CF56-D255-0DD4-E868A11559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E1300B-D1A4-50D6-9788-25A61FFF80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F582B9-7DB2-B96C-7EEA-6EC4B32D251C}"/>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6" name="Footer Placeholder 5">
            <a:extLst>
              <a:ext uri="{FF2B5EF4-FFF2-40B4-BE49-F238E27FC236}">
                <a16:creationId xmlns:a16="http://schemas.microsoft.com/office/drawing/2014/main" id="{B4BCAAD4-1608-7600-FB9B-A79CA32659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FC7B80-EB52-30AF-25CD-3792A0FFD4D3}"/>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651837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2D437-22BD-B943-811D-FEEF44A71C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D81096-E4D6-8029-EAEB-FBDED1174A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D8581C-1240-AA3A-EE51-A2A6C55575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F719BB-DC8A-C813-A3A9-664705856B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D8FF1C-612D-AAE7-D166-0152B2C316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BE9831-8124-4698-B80F-5C82E92994AB}"/>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8" name="Footer Placeholder 7">
            <a:extLst>
              <a:ext uri="{FF2B5EF4-FFF2-40B4-BE49-F238E27FC236}">
                <a16:creationId xmlns:a16="http://schemas.microsoft.com/office/drawing/2014/main" id="{CC668958-1340-CA93-32F6-9CD1374439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2797C4-4920-72E1-EC5B-E783C9760E22}"/>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2038363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E96C-D116-54A5-65C5-B847D7EF66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676316-59C6-81EA-2FEC-075973BC1207}"/>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4" name="Footer Placeholder 3">
            <a:extLst>
              <a:ext uri="{FF2B5EF4-FFF2-40B4-BE49-F238E27FC236}">
                <a16:creationId xmlns:a16="http://schemas.microsoft.com/office/drawing/2014/main" id="{70759B9D-D73F-F4C2-5153-17F7BF17A8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356CA4-1CCC-55E3-7724-62D6DDC01B0E}"/>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1468369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39A23D-1E80-8E0F-FC83-04F2E89DF156}"/>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3" name="Footer Placeholder 2">
            <a:extLst>
              <a:ext uri="{FF2B5EF4-FFF2-40B4-BE49-F238E27FC236}">
                <a16:creationId xmlns:a16="http://schemas.microsoft.com/office/drawing/2014/main" id="{F3646A52-4149-5E66-93D5-CB97A426E8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CFFA3E-6CD3-6D7C-D6A5-56D902A5CD7B}"/>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578954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523A5-A70F-1F1A-C86F-3A1253320A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BC38DE-6475-52F8-881C-23518111AB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4C4C1E-98B5-25FE-7F0E-2E31CF3DE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42AD87-DA8E-7A6B-60F6-CC39949F8C3F}"/>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6" name="Footer Placeholder 5">
            <a:extLst>
              <a:ext uri="{FF2B5EF4-FFF2-40B4-BE49-F238E27FC236}">
                <a16:creationId xmlns:a16="http://schemas.microsoft.com/office/drawing/2014/main" id="{EA6536CD-A945-C1B0-668A-C8A7BD739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3A5391-D202-C582-46DA-1796AE488B43}"/>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1815640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DEBC6-85FC-EAB9-9FFB-B5A7E47E4A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6F1DD1-A131-3FE4-5C1E-B8C24C297A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DA7E10-FAB4-F261-E6E3-2BB361A42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9AA1CA-9A0A-A100-3180-93EB6549CD8E}"/>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6" name="Footer Placeholder 5">
            <a:extLst>
              <a:ext uri="{FF2B5EF4-FFF2-40B4-BE49-F238E27FC236}">
                <a16:creationId xmlns:a16="http://schemas.microsoft.com/office/drawing/2014/main" id="{915E9549-CC4D-FF79-5C33-0C1BE95913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F556F-8035-0D62-05B0-91E92AD05CD8}"/>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2246072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A0DFD-BAD6-FAB8-FF48-7D251B28ED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6731AB-36CA-D486-62E6-68A69489A9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83F8CB-875E-0F4B-5682-5FE22A65FF1F}"/>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5" name="Footer Placeholder 4">
            <a:extLst>
              <a:ext uri="{FF2B5EF4-FFF2-40B4-BE49-F238E27FC236}">
                <a16:creationId xmlns:a16="http://schemas.microsoft.com/office/drawing/2014/main" id="{DEAA0ACC-E347-22CD-A4E0-245BE4CDB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2B0E5-02F4-1033-5A1E-4CA21A05B94A}"/>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2712374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47FE98-6ABC-EE67-EDB5-B3A5AB351C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1B6BB5-202C-EB2A-E2EF-89EF3FBECC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4641C5-FBD6-235D-32EB-27BA0E62F9C1}"/>
              </a:ext>
            </a:extLst>
          </p:cNvPr>
          <p:cNvSpPr>
            <a:spLocks noGrp="1"/>
          </p:cNvSpPr>
          <p:nvPr>
            <p:ph type="dt" sz="half" idx="10"/>
          </p:nvPr>
        </p:nvSpPr>
        <p:spPr/>
        <p:txBody>
          <a:bodyPr/>
          <a:lstStyle/>
          <a:p>
            <a:fld id="{1C306F2B-FA49-4589-B132-B0E9D17558BE}" type="datetimeFigureOut">
              <a:rPr lang="en-US" smtClean="0"/>
              <a:t>8/24/2025</a:t>
            </a:fld>
            <a:endParaRPr lang="en-US"/>
          </a:p>
        </p:txBody>
      </p:sp>
      <p:sp>
        <p:nvSpPr>
          <p:cNvPr id="5" name="Footer Placeholder 4">
            <a:extLst>
              <a:ext uri="{FF2B5EF4-FFF2-40B4-BE49-F238E27FC236}">
                <a16:creationId xmlns:a16="http://schemas.microsoft.com/office/drawing/2014/main" id="{6229A272-85E5-77B2-E998-18466FF60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76F9A4-826B-20EC-A0D1-163732196BEF}"/>
              </a:ext>
            </a:extLst>
          </p:cNvPr>
          <p:cNvSpPr>
            <a:spLocks noGrp="1"/>
          </p:cNvSpPr>
          <p:nvPr>
            <p:ph type="sldNum" sz="quarter" idx="12"/>
          </p:nvPr>
        </p:nvSpPr>
        <p:spPr/>
        <p:txBody>
          <a:bodyPr/>
          <a:lstStyle/>
          <a:p>
            <a:fld id="{AAD6C016-4E90-4F49-86FE-9D8930E3AAE8}" type="slidenum">
              <a:rPr lang="en-US" smtClean="0"/>
              <a:t>‹#›</a:t>
            </a:fld>
            <a:endParaRPr lang="en-US"/>
          </a:p>
        </p:txBody>
      </p:sp>
    </p:spTree>
    <p:extLst>
      <p:ext uri="{BB962C8B-B14F-4D97-AF65-F5344CB8AC3E}">
        <p14:creationId xmlns:p14="http://schemas.microsoft.com/office/powerpoint/2010/main" val="4277602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DF9CDC-B3DC-BC05-4A8D-4654F6DDDE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16D870-3795-821C-1AA9-D1F9C36CF8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0B7E15-808B-53AF-9077-54CB7D0E1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306F2B-FA49-4589-B132-B0E9D17558BE}" type="datetimeFigureOut">
              <a:rPr lang="en-US" smtClean="0"/>
              <a:t>8/24/2025</a:t>
            </a:fld>
            <a:endParaRPr lang="en-US"/>
          </a:p>
        </p:txBody>
      </p:sp>
      <p:sp>
        <p:nvSpPr>
          <p:cNvPr id="5" name="Footer Placeholder 4">
            <a:extLst>
              <a:ext uri="{FF2B5EF4-FFF2-40B4-BE49-F238E27FC236}">
                <a16:creationId xmlns:a16="http://schemas.microsoft.com/office/drawing/2014/main" id="{C51D3E50-632F-304F-68F4-158FB3C86A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3D616B-76A8-25AD-9CDA-0D96CDDA81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D6C016-4E90-4F49-86FE-9D8930E3AAE8}" type="slidenum">
              <a:rPr lang="en-US" smtClean="0"/>
              <a:t>‹#›</a:t>
            </a:fld>
            <a:endParaRPr lang="en-US"/>
          </a:p>
        </p:txBody>
      </p:sp>
    </p:spTree>
    <p:extLst>
      <p:ext uri="{BB962C8B-B14F-4D97-AF65-F5344CB8AC3E}">
        <p14:creationId xmlns:p14="http://schemas.microsoft.com/office/powerpoint/2010/main" val="2431396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with a bar graph&#10;&#10;AI-generated content may be incorrect.">
            <a:extLst>
              <a:ext uri="{FF2B5EF4-FFF2-40B4-BE49-F238E27FC236}">
                <a16:creationId xmlns:a16="http://schemas.microsoft.com/office/drawing/2014/main" id="{CEBC8B25-9A22-A4A6-ED58-95298AD20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2302657"/>
            <a:ext cx="5294716" cy="2252683"/>
          </a:xfrm>
          <a:prstGeom prst="rect">
            <a:avLst/>
          </a:prstGeom>
        </p:spPr>
      </p:pic>
      <p:cxnSp>
        <p:nvCxnSpPr>
          <p:cNvPr id="25" name="Straight Connector 24">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Picture 4" descr="A graph with a number of black and white bars&#10;&#10;AI-generated content may be incorrect.">
            <a:extLst>
              <a:ext uri="{FF2B5EF4-FFF2-40B4-BE49-F238E27FC236}">
                <a16:creationId xmlns:a16="http://schemas.microsoft.com/office/drawing/2014/main" id="{A44D4F3B-852E-11CE-5F2A-804F344C86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3817" y="2302659"/>
            <a:ext cx="5294715" cy="2252682"/>
          </a:xfrm>
          <a:prstGeom prst="rect">
            <a:avLst/>
          </a:prstGeom>
        </p:spPr>
      </p:pic>
      <p:sp>
        <p:nvSpPr>
          <p:cNvPr id="8" name="TextBox 7">
            <a:extLst>
              <a:ext uri="{FF2B5EF4-FFF2-40B4-BE49-F238E27FC236}">
                <a16:creationId xmlns:a16="http://schemas.microsoft.com/office/drawing/2014/main" id="{756CB8D5-0DE3-9911-4B04-E7DDC5B5E46B}"/>
              </a:ext>
            </a:extLst>
          </p:cNvPr>
          <p:cNvSpPr txBox="1"/>
          <p:nvPr/>
        </p:nvSpPr>
        <p:spPr>
          <a:xfrm>
            <a:off x="4398478" y="488454"/>
            <a:ext cx="3362960" cy="707886"/>
          </a:xfrm>
          <a:prstGeom prst="rect">
            <a:avLst/>
          </a:prstGeom>
          <a:noFill/>
        </p:spPr>
        <p:txBody>
          <a:bodyPr wrap="square" rtlCol="0">
            <a:spAutoFit/>
          </a:bodyPr>
          <a:lstStyle/>
          <a:p>
            <a:r>
              <a:rPr lang="en-US" sz="4000" b="1" dirty="0">
                <a:solidFill>
                  <a:schemeClr val="tx2">
                    <a:lumMod val="75000"/>
                    <a:lumOff val="25000"/>
                  </a:schemeClr>
                </a:solidFill>
              </a:rPr>
              <a:t>MILESTONE 4</a:t>
            </a:r>
          </a:p>
        </p:txBody>
      </p:sp>
    </p:spTree>
    <p:extLst>
      <p:ext uri="{BB962C8B-B14F-4D97-AF65-F5344CB8AC3E}">
        <p14:creationId xmlns:p14="http://schemas.microsoft.com/office/powerpoint/2010/main" val="951187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5B0F0659-34CF-9B79-5DE9-2EB3451676B4}"/>
              </a:ext>
            </a:extLst>
          </p:cNvPr>
          <p:cNvSpPr>
            <a:spLocks noGrp="1" noChangeArrowheads="1"/>
          </p:cNvSpPr>
          <p:nvPr>
            <p:ph type="title"/>
          </p:nvPr>
        </p:nvSpPr>
        <p:spPr bwMode="auto">
          <a:xfrm>
            <a:off x="621629" y="640080"/>
            <a:ext cx="4225290" cy="557881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spcAft>
                <a:spcPct val="0"/>
              </a:spcAft>
              <a:buClrTx/>
              <a:buSzTx/>
              <a:tabLst/>
            </a:pPr>
            <a:r>
              <a:rPr kumimoji="0" lang="en-US" altLang="en-US" sz="2100" b="1" i="0" u="none" strike="noStrike" kern="1200" cap="none" normalizeH="0" baseline="0" dirty="0">
                <a:ln>
                  <a:noFill/>
                </a:ln>
                <a:solidFill>
                  <a:srgbClr val="FFFFFF"/>
                </a:solidFill>
                <a:effectLst/>
                <a:latin typeface="+mj-lt"/>
                <a:ea typeface="+mj-ea"/>
                <a:cs typeface="+mj-cs"/>
              </a:rPr>
              <a:t>1. Date index (time trend)</a:t>
            </a:r>
            <a:r>
              <a:rPr kumimoji="0" lang="en-US" altLang="en-US" sz="2100" b="0" i="0" u="none" strike="noStrike" kern="1200" cap="none" normalizeH="0" baseline="0" dirty="0">
                <a:ln>
                  <a:noFill/>
                </a:ln>
                <a:solidFill>
                  <a:srgbClr val="FFFFFF"/>
                </a:solidFill>
                <a:effectLst/>
                <a:latin typeface="+mj-lt"/>
                <a:ea typeface="+mj-ea"/>
                <a:cs typeface="+mj-cs"/>
              </a:rPr>
              <a:t> and </a:t>
            </a:r>
            <a:r>
              <a:rPr kumimoji="0" lang="en-US" altLang="en-US" sz="2100" b="1" i="0" u="none" strike="noStrike" kern="1200" cap="none" normalizeH="0" baseline="0" dirty="0">
                <a:ln>
                  <a:noFill/>
                </a:ln>
                <a:solidFill>
                  <a:srgbClr val="FFFFFF"/>
                </a:solidFill>
                <a:effectLst/>
                <a:latin typeface="+mj-lt"/>
                <a:ea typeface="+mj-ea"/>
                <a:cs typeface="+mj-cs"/>
              </a:rPr>
              <a:t>sell-in volumes</a:t>
            </a:r>
            <a:r>
              <a:rPr kumimoji="0" lang="en-US" altLang="en-US" sz="2100" b="0" i="0" u="none" strike="noStrike" kern="1200" cap="none" normalizeH="0" baseline="0" dirty="0">
                <a:ln>
                  <a:noFill/>
                </a:ln>
                <a:solidFill>
                  <a:srgbClr val="FFFFFF"/>
                </a:solidFill>
                <a:effectLst/>
                <a:latin typeface="+mj-lt"/>
                <a:ea typeface="+mj-ea"/>
                <a:cs typeface="+mj-cs"/>
              </a:rPr>
              <a:t> are the most important drivers across all three policies.</a:t>
            </a:r>
          </a:p>
          <a:p>
            <a:pPr marL="0" marR="0" lvl="0" indent="0" fontAlgn="base">
              <a:spcAft>
                <a:spcPct val="0"/>
              </a:spcAft>
              <a:buClrTx/>
              <a:buSzTx/>
              <a:tabLst/>
            </a:pPr>
            <a:r>
              <a:rPr kumimoji="0" lang="en-US" altLang="en-US" sz="2100" b="1" i="0" u="none" strike="noStrike" kern="1200" cap="none" normalizeH="0" baseline="0" dirty="0">
                <a:ln>
                  <a:noFill/>
                </a:ln>
                <a:solidFill>
                  <a:srgbClr val="FFFFFF"/>
                </a:solidFill>
                <a:effectLst/>
                <a:latin typeface="+mj-lt"/>
                <a:ea typeface="+mj-ea"/>
                <a:cs typeface="+mj-cs"/>
              </a:rPr>
              <a:t>2. Sell-in price</a:t>
            </a:r>
            <a:r>
              <a:rPr kumimoji="0" lang="en-US" altLang="en-US" sz="2100" b="0" i="0" u="none" strike="noStrike" kern="1200" cap="none" normalizeH="0" baseline="0" dirty="0">
                <a:ln>
                  <a:noFill/>
                </a:ln>
                <a:solidFill>
                  <a:srgbClr val="FFFFFF"/>
                </a:solidFill>
                <a:effectLst/>
                <a:latin typeface="+mj-lt"/>
                <a:ea typeface="+mj-ea"/>
                <a:cs typeface="+mj-cs"/>
              </a:rPr>
              <a:t> shows moderate influence, reflecting some level of price sensitivity.</a:t>
            </a:r>
          </a:p>
          <a:p>
            <a:pPr marL="0" marR="0" lvl="0" indent="0" fontAlgn="base">
              <a:spcAft>
                <a:spcPct val="0"/>
              </a:spcAft>
              <a:buClrTx/>
              <a:buSzTx/>
              <a:tabLst/>
            </a:pPr>
            <a:r>
              <a:rPr kumimoji="0" lang="en-US" altLang="en-US" sz="2100" b="1" i="0" u="none" strike="noStrike" kern="1200" cap="none" normalizeH="0" baseline="0" dirty="0">
                <a:ln>
                  <a:noFill/>
                </a:ln>
                <a:solidFill>
                  <a:srgbClr val="FFFFFF"/>
                </a:solidFill>
                <a:effectLst/>
                <a:latin typeface="+mj-lt"/>
                <a:ea typeface="+mj-ea"/>
                <a:cs typeface="+mj-cs"/>
              </a:rPr>
              <a:t>3. Calendar variables</a:t>
            </a:r>
            <a:r>
              <a:rPr kumimoji="0" lang="en-US" altLang="en-US" sz="2100" b="0" i="0" u="none" strike="noStrike" kern="1200" cap="none" normalizeH="0" baseline="0" dirty="0">
                <a:ln>
                  <a:noFill/>
                </a:ln>
                <a:solidFill>
                  <a:srgbClr val="FFFFFF"/>
                </a:solidFill>
                <a:effectLst/>
                <a:latin typeface="+mj-lt"/>
                <a:ea typeface="+mj-ea"/>
                <a:cs typeface="+mj-cs"/>
              </a:rPr>
              <a:t> (quarter, day, month labels) contribute very little compared to trend and supply factors.</a:t>
            </a:r>
          </a:p>
          <a:p>
            <a:pPr marL="0" marR="0" lvl="0" indent="0" fontAlgn="base">
              <a:spcAft>
                <a:spcPct val="0"/>
              </a:spcAft>
              <a:buClrTx/>
              <a:buSzTx/>
              <a:tabLst/>
            </a:pPr>
            <a:r>
              <a:rPr kumimoji="0" lang="en-US" altLang="en-US" sz="2100" b="0" i="0" u="none" strike="noStrike" kern="1200" cap="none" normalizeH="0" baseline="0" dirty="0">
                <a:ln>
                  <a:noFill/>
                </a:ln>
                <a:solidFill>
                  <a:srgbClr val="FFFFFF"/>
                </a:solidFill>
                <a:effectLst/>
                <a:latin typeface="+mj-lt"/>
                <a:ea typeface="+mj-ea"/>
                <a:cs typeface="+mj-cs"/>
              </a:rPr>
              <a:t>4. This suggests that </a:t>
            </a:r>
            <a:r>
              <a:rPr kumimoji="0" lang="en-US" altLang="en-US" sz="2100" b="1" i="0" u="none" strike="noStrike" kern="1200" cap="none" normalizeH="0" baseline="0" dirty="0">
                <a:ln>
                  <a:noFill/>
                </a:ln>
                <a:solidFill>
                  <a:srgbClr val="FFFFFF"/>
                </a:solidFill>
                <a:effectLst/>
                <a:latin typeface="+mj-lt"/>
                <a:ea typeface="+mj-ea"/>
                <a:cs typeface="+mj-cs"/>
              </a:rPr>
              <a:t>demand is more trend- and supply-driven than seasonality-driven</a:t>
            </a:r>
            <a:r>
              <a:rPr kumimoji="0" lang="en-US" altLang="en-US" sz="2100" b="0" i="0" u="none" strike="noStrike" kern="1200" cap="none" normalizeH="0" baseline="0" dirty="0">
                <a:ln>
                  <a:noFill/>
                </a:ln>
                <a:solidFill>
                  <a:srgbClr val="FFFFFF"/>
                </a:solidFill>
                <a:effectLst/>
                <a:latin typeface="+mj-lt"/>
                <a:ea typeface="+mj-ea"/>
                <a:cs typeface="+mj-cs"/>
              </a:rPr>
              <a:t>.</a:t>
            </a:r>
          </a:p>
          <a:p>
            <a:pPr marL="0" marR="0" lvl="0" indent="0" fontAlgn="base">
              <a:spcAft>
                <a:spcPct val="0"/>
              </a:spcAft>
              <a:buClrTx/>
              <a:buSzTx/>
              <a:tabLst/>
            </a:pPr>
            <a:r>
              <a:rPr kumimoji="0" lang="en-US" altLang="en-US" sz="2100" b="0" i="0" u="none" strike="noStrike" kern="1200" cap="none" normalizeH="0" baseline="0" dirty="0">
                <a:ln>
                  <a:noFill/>
                </a:ln>
                <a:solidFill>
                  <a:srgbClr val="FFFFFF"/>
                </a:solidFill>
                <a:effectLst/>
                <a:latin typeface="+mj-lt"/>
                <a:ea typeface="+mj-ea"/>
                <a:cs typeface="+mj-cs"/>
              </a:rPr>
              <a:t>5. Hence, fixed order policies should focus on </a:t>
            </a:r>
            <a:r>
              <a:rPr kumimoji="0" lang="en-US" altLang="en-US" sz="2100" b="1" i="0" u="none" strike="noStrike" kern="1200" cap="none" normalizeH="0" baseline="0" dirty="0">
                <a:ln>
                  <a:noFill/>
                </a:ln>
                <a:solidFill>
                  <a:srgbClr val="FFFFFF"/>
                </a:solidFill>
                <a:effectLst/>
                <a:latin typeface="+mj-lt"/>
                <a:ea typeface="+mj-ea"/>
                <a:cs typeface="+mj-cs"/>
              </a:rPr>
              <a:t>time progression and sell-in adjustments</a:t>
            </a:r>
            <a:r>
              <a:rPr kumimoji="0" lang="en-US" altLang="en-US" sz="2100" b="0" i="0" u="none" strike="noStrike" kern="1200" cap="none" normalizeH="0" baseline="0" dirty="0">
                <a:ln>
                  <a:noFill/>
                </a:ln>
                <a:solidFill>
                  <a:srgbClr val="FFFFFF"/>
                </a:solidFill>
                <a:effectLst/>
                <a:latin typeface="+mj-lt"/>
                <a:ea typeface="+mj-ea"/>
                <a:cs typeface="+mj-cs"/>
              </a:rPr>
              <a:t>, rather than seasonal effects.</a:t>
            </a:r>
          </a:p>
        </p:txBody>
      </p:sp>
      <p:pic>
        <p:nvPicPr>
          <p:cNvPr id="5" name="Content Placeholder 4" descr="A graph with a bar graph&#10;&#10;AI-generated content may be incorrect.">
            <a:extLst>
              <a:ext uri="{FF2B5EF4-FFF2-40B4-BE49-F238E27FC236}">
                <a16:creationId xmlns:a16="http://schemas.microsoft.com/office/drawing/2014/main" id="{2B87C8B2-3476-5A35-C4CF-8D2FECB2E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7484" y="2133600"/>
            <a:ext cx="6465826" cy="3322320"/>
          </a:xfrm>
          <a:prstGeom prst="rect">
            <a:avLst/>
          </a:prstGeom>
        </p:spPr>
      </p:pic>
    </p:spTree>
    <p:extLst>
      <p:ext uri="{BB962C8B-B14F-4D97-AF65-F5344CB8AC3E}">
        <p14:creationId xmlns:p14="http://schemas.microsoft.com/office/powerpoint/2010/main" val="1118493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with a bar graph&#10;&#10;AI-generated content may be incorrect.">
            <a:extLst>
              <a:ext uri="{FF2B5EF4-FFF2-40B4-BE49-F238E27FC236}">
                <a16:creationId xmlns:a16="http://schemas.microsoft.com/office/drawing/2014/main" id="{0EB87956-A832-518E-1350-49E0D8D22F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2302657"/>
            <a:ext cx="5294716" cy="2252683"/>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descr="A graph with a number of black and white bars&#10;&#10;AI-generated content may be incorrect.">
            <a:extLst>
              <a:ext uri="{FF2B5EF4-FFF2-40B4-BE49-F238E27FC236}">
                <a16:creationId xmlns:a16="http://schemas.microsoft.com/office/drawing/2014/main" id="{51BC50C2-F14F-4CAA-DA4C-2F991489C2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3817" y="2302659"/>
            <a:ext cx="5294715" cy="2252682"/>
          </a:xfrm>
          <a:prstGeom prst="rect">
            <a:avLst/>
          </a:prstGeom>
        </p:spPr>
      </p:pic>
    </p:spTree>
    <p:extLst>
      <p:ext uri="{BB962C8B-B14F-4D97-AF65-F5344CB8AC3E}">
        <p14:creationId xmlns:p14="http://schemas.microsoft.com/office/powerpoint/2010/main" val="79678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Rectangle 1">
            <a:extLst>
              <a:ext uri="{FF2B5EF4-FFF2-40B4-BE49-F238E27FC236}">
                <a16:creationId xmlns:a16="http://schemas.microsoft.com/office/drawing/2014/main" id="{8FC905CE-FB58-C95D-C6FB-C5798B9B1DD4}"/>
              </a:ext>
            </a:extLst>
          </p:cNvPr>
          <p:cNvSpPr>
            <a:spLocks noGrp="1" noChangeArrowheads="1"/>
          </p:cNvSpPr>
          <p:nvPr>
            <p:ph idx="1"/>
          </p:nvPr>
        </p:nvSpPr>
        <p:spPr bwMode="auto">
          <a:xfrm>
            <a:off x="765888" y="1668658"/>
            <a:ext cx="3888528" cy="355358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Date index (time factor)</a:t>
            </a:r>
            <a:r>
              <a:rPr kumimoji="0" lang="en-US" altLang="en-US" sz="1400" b="0" i="0" u="none" strike="noStrike" cap="none" normalizeH="0" baseline="0" dirty="0">
                <a:ln>
                  <a:noFill/>
                </a:ln>
                <a:effectLst/>
                <a:latin typeface="Arial" panose="020B0604020202020204" pitchFamily="34" charset="0"/>
              </a:rPr>
              <a:t> remains the most critical variable, showing demand is largely trend-driven.</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Sell-in volumes</a:t>
            </a:r>
            <a:r>
              <a:rPr kumimoji="0" lang="en-US" altLang="en-US" sz="1400" b="0" i="0" u="none" strike="noStrike" cap="none" normalizeH="0" baseline="0" dirty="0">
                <a:ln>
                  <a:noFill/>
                </a:ln>
                <a:effectLst/>
                <a:latin typeface="Arial" panose="020B0604020202020204" pitchFamily="34" charset="0"/>
              </a:rPr>
              <a:t> consistently rank second, highlighting their role in shaping forecast coverage.</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Sell-in price</a:t>
            </a:r>
            <a:r>
              <a:rPr kumimoji="0" lang="en-US" altLang="en-US" sz="1400" b="0" i="0" u="none" strike="noStrike" cap="none" normalizeH="0" baseline="0" dirty="0">
                <a:ln>
                  <a:noFill/>
                </a:ln>
                <a:effectLst/>
                <a:latin typeface="Arial" panose="020B0604020202020204" pitchFamily="34" charset="0"/>
              </a:rPr>
              <a:t> plays only a minor role, suggesting that price changes have limited effect on forecast cover policies.</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Month labels and calendar features</a:t>
            </a:r>
            <a:r>
              <a:rPr kumimoji="0" lang="en-US" altLang="en-US" sz="1400" b="0" i="0" u="none" strike="noStrike" cap="none" normalizeH="0" baseline="0" dirty="0">
                <a:ln>
                  <a:noFill/>
                </a:ln>
                <a:effectLst/>
                <a:latin typeface="Arial" panose="020B0604020202020204" pitchFamily="34" charset="0"/>
              </a:rPr>
              <a:t> contribute slightly, indicating weaker but present seasonal influences.</a:t>
            </a:r>
          </a:p>
          <a:p>
            <a:pPr marL="0" marR="0" lvl="0" indent="0" defTabSz="914400" rtl="0" eaLnBrk="0" fontAlgn="base" latinLnBrk="0" hangingPunct="0">
              <a:spcBef>
                <a:spcPct val="0"/>
              </a:spcBef>
              <a:spcAft>
                <a:spcPts val="600"/>
              </a:spcAft>
              <a:buClrTx/>
              <a:buSzTx/>
              <a:buFontTx/>
              <a:buChar char="•"/>
              <a:tabLst/>
            </a:pPr>
            <a:r>
              <a:rPr kumimoji="0" lang="en-US" altLang="en-US" sz="1400" b="0" i="0" u="none" strike="noStrike" cap="none" normalizeH="0" baseline="0" dirty="0">
                <a:ln>
                  <a:noFill/>
                </a:ln>
                <a:effectLst/>
                <a:latin typeface="Arial" panose="020B0604020202020204" pitchFamily="34" charset="0"/>
              </a:rPr>
              <a:t>Overall, forecast cover policies should be </a:t>
            </a:r>
            <a:r>
              <a:rPr kumimoji="0" lang="en-US" altLang="en-US" sz="1400" b="1" i="0" u="none" strike="noStrike" cap="none" normalizeH="0" baseline="0" dirty="0">
                <a:ln>
                  <a:noFill/>
                </a:ln>
                <a:effectLst/>
                <a:latin typeface="Arial" panose="020B0604020202020204" pitchFamily="34" charset="0"/>
              </a:rPr>
              <a:t>anchored on time trends and supply inputs</a:t>
            </a:r>
            <a:r>
              <a:rPr kumimoji="0" lang="en-US" altLang="en-US" sz="1400" b="0" i="0" u="none" strike="noStrike" cap="none" normalizeH="0" baseline="0" dirty="0">
                <a:ln>
                  <a:noFill/>
                </a:ln>
                <a:effectLst/>
                <a:latin typeface="Arial" panose="020B0604020202020204" pitchFamily="34" charset="0"/>
              </a:rPr>
              <a:t>, with minor adjustments for seasonality.</a:t>
            </a:r>
          </a:p>
        </p:txBody>
      </p:sp>
      <p:pic>
        <p:nvPicPr>
          <p:cNvPr id="6" name="Picture 5" descr="A graph with a bar and a number of text&#10;&#10;AI-generated content may be incorrect.">
            <a:extLst>
              <a:ext uri="{FF2B5EF4-FFF2-40B4-BE49-F238E27FC236}">
                <a16:creationId xmlns:a16="http://schemas.microsoft.com/office/drawing/2014/main" id="{1F8A69C5-D065-87A2-2214-0211FBF39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6729" y="1493520"/>
            <a:ext cx="7389910" cy="3728719"/>
          </a:xfrm>
          <a:prstGeom prst="rect">
            <a:avLst/>
          </a:prstGeom>
        </p:spPr>
      </p:pic>
    </p:spTree>
    <p:extLst>
      <p:ext uri="{BB962C8B-B14F-4D97-AF65-F5344CB8AC3E}">
        <p14:creationId xmlns:p14="http://schemas.microsoft.com/office/powerpoint/2010/main" val="3547481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94453B79-EA27-1829-1EA3-424761F0A0F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1885" b="13137"/>
          <a:stretch>
            <a:fillRect/>
          </a:stretch>
        </p:blipFill>
        <p:spPr>
          <a:xfrm>
            <a:off x="959205" y="364142"/>
            <a:ext cx="10369645" cy="3867993"/>
          </a:xfrm>
          <a:prstGeom prst="rect">
            <a:avLst/>
          </a:prstGeom>
        </p:spPr>
      </p:pic>
      <p:sp>
        <p:nvSpPr>
          <p:cNvPr id="23" name="Rectangle 22">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90609601-6A39-DBEA-8469-3650D31E906C}"/>
              </a:ext>
            </a:extLst>
          </p:cNvPr>
          <p:cNvSpPr>
            <a:spLocks noChangeArrowheads="1"/>
          </p:cNvSpPr>
          <p:nvPr/>
        </p:nvSpPr>
        <p:spPr bwMode="auto">
          <a:xfrm>
            <a:off x="4986867" y="4883544"/>
            <a:ext cx="6762767" cy="168658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342900" lvl="0" indent="-228600" fontAlgn="base">
              <a:lnSpc>
                <a:spcPct val="90000"/>
              </a:lnSpc>
              <a:spcBef>
                <a:spcPct val="0"/>
              </a:spcBef>
              <a:spcAft>
                <a:spcPts val="600"/>
              </a:spcAft>
              <a:buFont typeface="Arial" panose="020B0604020202020204" pitchFamily="34" charset="0"/>
              <a:buChar char="•"/>
            </a:pPr>
            <a:r>
              <a:rPr lang="en-US" sz="1000" dirty="0"/>
              <a:t>From a </a:t>
            </a:r>
            <a:r>
              <a:rPr lang="en-US" sz="1000" b="1" dirty="0"/>
              <a:t>Service Performance</a:t>
            </a:r>
            <a:r>
              <a:rPr lang="en-US" sz="1000" dirty="0"/>
              <a:t> perspective, the </a:t>
            </a:r>
            <a:r>
              <a:rPr lang="en-US" sz="1000" b="1" dirty="0"/>
              <a:t>2-Week and 3-Week Cover policies</a:t>
            </a:r>
            <a:r>
              <a:rPr lang="en-US" sz="1000" dirty="0"/>
              <a:t> perform the best with very low late sales (484) and only 1 week of stockouts, achieving a high fill rate of </a:t>
            </a:r>
            <a:r>
              <a:rPr lang="en-US" sz="1000" b="1" dirty="0"/>
              <a:t>93.9%</a:t>
            </a:r>
            <a:r>
              <a:rPr lang="en-US" sz="1000" dirty="0"/>
              <a:t>.</a:t>
            </a:r>
          </a:p>
          <a:p>
            <a:pPr marL="342900" lvl="0" indent="-228600" fontAlgn="base">
              <a:lnSpc>
                <a:spcPct val="90000"/>
              </a:lnSpc>
              <a:spcBef>
                <a:spcPct val="0"/>
              </a:spcBef>
              <a:spcAft>
                <a:spcPts val="600"/>
              </a:spcAft>
              <a:buFont typeface="Arial" panose="020B0604020202020204" pitchFamily="34" charset="0"/>
              <a:buChar char="•"/>
            </a:pPr>
            <a:r>
              <a:rPr kumimoji="0" lang="en-US" altLang="en-US" sz="1000" b="0" i="0" u="none" strike="noStrike" cap="none" normalizeH="0" baseline="0" dirty="0">
                <a:ln>
                  <a:noFill/>
                </a:ln>
                <a:effectLst/>
              </a:rPr>
              <a:t>From an </a:t>
            </a:r>
            <a:r>
              <a:rPr kumimoji="0" lang="en-US" altLang="en-US" sz="1000" b="1" i="0" u="none" strike="noStrike" cap="none" normalizeH="0" baseline="0" dirty="0">
                <a:ln>
                  <a:noFill/>
                </a:ln>
                <a:effectLst/>
              </a:rPr>
              <a:t>Inventory Efficiency</a:t>
            </a:r>
            <a:r>
              <a:rPr kumimoji="0" lang="en-US" altLang="en-US" sz="1000" b="0" i="0" u="none" strike="noStrike" cap="none" normalizeH="0" baseline="0" dirty="0">
                <a:ln>
                  <a:noFill/>
                </a:ln>
                <a:effectLst/>
              </a:rPr>
              <a:t> perspective, the </a:t>
            </a:r>
            <a:r>
              <a:rPr kumimoji="0" lang="en-US" altLang="en-US" sz="1000" b="1" i="0" u="none" strike="noStrike" cap="none" normalizeH="0" baseline="0" dirty="0">
                <a:ln>
                  <a:noFill/>
                </a:ln>
                <a:effectLst/>
              </a:rPr>
              <a:t>1-Week Cover policy</a:t>
            </a:r>
            <a:r>
              <a:rPr kumimoji="0" lang="en-US" altLang="en-US" sz="1000" b="0" i="0" u="none" strike="noStrike" cap="none" normalizeH="0" baseline="0" dirty="0">
                <a:ln>
                  <a:noFill/>
                </a:ln>
                <a:effectLst/>
              </a:rPr>
              <a:t> is superior with </a:t>
            </a:r>
            <a:r>
              <a:rPr kumimoji="0" lang="en-US" altLang="en-US" sz="1000" b="1" i="0" u="none" strike="noStrike" cap="none" normalizeH="0" baseline="0" dirty="0">
                <a:ln>
                  <a:noFill/>
                </a:ln>
                <a:effectLst/>
              </a:rPr>
              <a:t>154 inventory turns</a:t>
            </a:r>
            <a:r>
              <a:rPr kumimoji="0" lang="en-US" altLang="en-US" sz="1000" b="0" i="0" u="none" strike="noStrike" cap="none" normalizeH="0" baseline="0" dirty="0">
                <a:ln>
                  <a:noFill/>
                </a:ln>
                <a:effectLst/>
              </a:rPr>
              <a:t>, showing extremely efficient inventory usage.</a:t>
            </a:r>
          </a:p>
          <a:p>
            <a:pPr marL="0" marR="0" lvl="0" indent="-228600" fontAlgn="base">
              <a:lnSpc>
                <a:spcPct val="90000"/>
              </a:lnSpc>
              <a:spcBef>
                <a:spcPct val="0"/>
              </a:spcBef>
              <a:spcAft>
                <a:spcPts val="600"/>
              </a:spcAft>
              <a:buClrTx/>
              <a:buSzTx/>
              <a:buFont typeface="Arial" panose="020B0604020202020204" pitchFamily="34" charset="0"/>
              <a:buChar char="•"/>
              <a:tabLst/>
            </a:pPr>
            <a:r>
              <a:rPr lang="en-US" altLang="en-US" sz="1000" dirty="0"/>
              <a:t>3</a:t>
            </a:r>
            <a:r>
              <a:rPr kumimoji="0" lang="en-US" altLang="en-US" sz="1000" b="0" i="0" u="none" strike="noStrike" cap="none" normalizeH="0" baseline="0" dirty="0">
                <a:ln>
                  <a:noFill/>
                </a:ln>
                <a:effectLst/>
              </a:rPr>
              <a:t>. Fixed-order policies underperform significantly due to higher late sales and poor fill rates.</a:t>
            </a:r>
          </a:p>
          <a:p>
            <a:pPr indent="-228600" fontAlgn="base">
              <a:lnSpc>
                <a:spcPct val="90000"/>
              </a:lnSpc>
              <a:spcBef>
                <a:spcPct val="0"/>
              </a:spcBef>
              <a:spcAft>
                <a:spcPts val="600"/>
              </a:spcAft>
              <a:buFont typeface="Arial" panose="020B0604020202020204" pitchFamily="34" charset="0"/>
              <a:buChar char="•"/>
            </a:pPr>
            <a:r>
              <a:rPr lang="en-US" altLang="en-US" sz="1000" dirty="0"/>
              <a:t>4</a:t>
            </a:r>
            <a:r>
              <a:rPr kumimoji="0" lang="en-US" altLang="en-US" sz="1000" b="0" i="0" u="none" strike="noStrike" cap="none" normalizeH="0" baseline="0" dirty="0">
                <a:ln>
                  <a:noFill/>
                </a:ln>
                <a:effectLst/>
              </a:rPr>
              <a:t>. If the priority is </a:t>
            </a:r>
            <a:r>
              <a:rPr kumimoji="0" lang="en-US" altLang="en-US" sz="1000" b="1" i="0" u="none" strike="noStrike" cap="none" normalizeH="0" baseline="0" dirty="0">
                <a:ln>
                  <a:noFill/>
                </a:ln>
                <a:effectLst/>
              </a:rPr>
              <a:t>service reliability</a:t>
            </a:r>
            <a:r>
              <a:rPr kumimoji="0" lang="en-US" altLang="en-US" sz="1000" b="0" i="0" u="none" strike="noStrike" cap="none" normalizeH="0" baseline="0" dirty="0">
                <a:ln>
                  <a:noFill/>
                </a:ln>
                <a:effectLst/>
              </a:rPr>
              <a:t>, the </a:t>
            </a:r>
            <a:r>
              <a:rPr kumimoji="0" lang="en-US" altLang="en-US" sz="1000" b="1" i="0" u="none" strike="noStrike" cap="none" normalizeH="0" baseline="0" dirty="0">
                <a:ln>
                  <a:noFill/>
                </a:ln>
                <a:effectLst/>
              </a:rPr>
              <a:t>2-Week Cover policy</a:t>
            </a:r>
            <a:r>
              <a:rPr kumimoji="0" lang="en-US" altLang="en-US" sz="1000" b="0" i="0" u="none" strike="noStrike" cap="none" normalizeH="0" baseline="0" dirty="0">
                <a:ln>
                  <a:noFill/>
                </a:ln>
                <a:effectLst/>
              </a:rPr>
              <a:t> is best. If the focus is on </a:t>
            </a:r>
            <a:r>
              <a:rPr kumimoji="0" lang="en-US" altLang="en-US" sz="1000" b="1" i="0" u="none" strike="noStrike" cap="none" normalizeH="0" baseline="0" dirty="0">
                <a:ln>
                  <a:noFill/>
                </a:ln>
                <a:effectLst/>
              </a:rPr>
              <a:t>inventory efficiency</a:t>
            </a:r>
            <a:r>
              <a:rPr kumimoji="0" lang="en-US" altLang="en-US" sz="1000" b="0" i="0" u="none" strike="noStrike" cap="none" normalizeH="0" baseline="0" dirty="0">
                <a:ln>
                  <a:noFill/>
                </a:ln>
                <a:effectLst/>
              </a:rPr>
              <a:t>, the </a:t>
            </a:r>
            <a:r>
              <a:rPr kumimoji="0" lang="en-US" altLang="en-US" sz="1000" b="1" i="0" u="none" strike="noStrike" cap="none" normalizeH="0" baseline="0" dirty="0">
                <a:ln>
                  <a:noFill/>
                </a:ln>
                <a:effectLst/>
              </a:rPr>
              <a:t>1-Week Cover policy</a:t>
            </a:r>
            <a:r>
              <a:rPr kumimoji="0" lang="en-US" altLang="en-US" sz="1000" b="0" i="0" u="none" strike="noStrike" cap="none" normalizeH="0" baseline="0" dirty="0">
                <a:ln>
                  <a:noFill/>
                </a:ln>
                <a:effectLst/>
              </a:rPr>
              <a:t> is best.</a:t>
            </a:r>
            <a:r>
              <a:rPr lang="en-US" altLang="en-US" sz="1000" dirty="0"/>
              <a:t> From a </a:t>
            </a:r>
            <a:r>
              <a:rPr lang="en-US" altLang="en-US" sz="1000" b="1" dirty="0"/>
              <a:t>Service Performance</a:t>
            </a:r>
            <a:r>
              <a:rPr lang="en-US" altLang="en-US" sz="1000" dirty="0"/>
              <a:t> perspective, the </a:t>
            </a:r>
            <a:r>
              <a:rPr lang="en-US" altLang="en-US" sz="1000" b="1" dirty="0"/>
              <a:t>2-Week and 3-Week Cover policies</a:t>
            </a:r>
            <a:r>
              <a:rPr lang="en-US" altLang="en-US" sz="1000" dirty="0"/>
              <a:t> perform the best with very low late sales (484) and only 1 week of stockouts, achieving a high fill rate of </a:t>
            </a:r>
            <a:r>
              <a:rPr lang="en-US" altLang="en-US" sz="1000" b="1" dirty="0"/>
              <a:t>93.9%</a:t>
            </a:r>
            <a:r>
              <a:rPr lang="en-US" altLang="en-US" sz="1000" dirty="0"/>
              <a:t>.</a:t>
            </a:r>
          </a:p>
        </p:txBody>
      </p:sp>
    </p:spTree>
    <p:extLst>
      <p:ext uri="{BB962C8B-B14F-4D97-AF65-F5344CB8AC3E}">
        <p14:creationId xmlns:p14="http://schemas.microsoft.com/office/powerpoint/2010/main" val="1051554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329</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1. Date index (time trend) and sell-in volumes are the most important drivers across all three policies. 2. Sell-in price shows moderate influence, reflecting some level of price sensitivity. 3. Calendar variables (quarter, day, month labels) contribute very little compared to trend and supply factors. 4. This suggests that demand is more trend- and supply-driven than seasonality-driven. 5. Hence, fixed order policies should focus on time progression and sell-in adjustments, rather than seasonal effects.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RAMAKANT PAUL</dc:creator>
  <cp:lastModifiedBy>RAMAKANT PAUL</cp:lastModifiedBy>
  <cp:revision>1</cp:revision>
  <dcterms:created xsi:type="dcterms:W3CDTF">2025-08-23T19:15:41Z</dcterms:created>
  <dcterms:modified xsi:type="dcterms:W3CDTF">2025-08-23T20:44:46Z</dcterms:modified>
</cp:coreProperties>
</file>